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A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1E3A66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74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D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 DE EVALUARE IMOBILIARA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Casa individuala + teren, pentru garantarea creditului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794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de prezentare pentru review — destinat unui evaluator autorizat ANEVAR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614476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face aplicatia · cum e gandita · ce metodologie aplica · ce e validat · ce urmeaza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 SCURT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este aplicatia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2011680"/>
            <a:ext cx="310896" cy="310896"/>
          </a:xfrm>
          <a:prstGeom prst="ellipse">
            <a:avLst/>
          </a:prstGeom>
          <a:solidFill>
            <a:srgbClr val="152A4E"/>
          </a:solidFill>
          <a:ln/>
        </p:spPr>
      </p:sp>
      <p:sp>
        <p:nvSpPr>
          <p:cNvPr id="7" name="Text 5"/>
          <p:cNvSpPr/>
          <p:nvPr/>
        </p:nvSpPr>
        <p:spPr>
          <a:xfrm>
            <a:off x="1088136" y="202996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00200" y="175564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Asista evaluatorul, nu il inlocuieste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Automatizeaza partea repetitiva — calcule, cautare de comparabile, redactarea raportului. Evaluatorul decide si verifica.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3017520"/>
            <a:ext cx="106070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051560" y="3474720"/>
            <a:ext cx="310896" cy="310896"/>
          </a:xfrm>
          <a:prstGeom prst="ellipse">
            <a:avLst/>
          </a:prstGeom>
          <a:solidFill>
            <a:srgbClr val="152A4E"/>
          </a:solidFill>
          <a:ln/>
        </p:spPr>
      </p:sp>
      <p:sp>
        <p:nvSpPr>
          <p:cNvPr id="12" name="Text 10"/>
          <p:cNvSpPr/>
          <p:nvPr/>
        </p:nvSpPr>
        <p:spPr>
          <a:xfrm>
            <a:off x="1088136" y="349300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00200" y="321868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Ruleaza local, ca un singur fisier .exe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00200" y="3621024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deschide o pagina in browser, pe calculatorul propriu. Fara instalari complicate, fara server extern.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77240" y="4480560"/>
            <a:ext cx="106070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51560" y="4937760"/>
            <a:ext cx="310896" cy="310896"/>
          </a:xfrm>
          <a:prstGeom prst="ellipse">
            <a:avLst/>
          </a:prstGeom>
          <a:solidFill>
            <a:srgbClr val="152A4E"/>
          </a:solidFill>
          <a:ln/>
        </p:spPr>
      </p:sp>
      <p:sp>
        <p:nvSpPr>
          <p:cNvPr id="17" name="Text 15"/>
          <p:cNvSpPr/>
          <p:nvPr/>
        </p:nvSpPr>
        <p:spPr>
          <a:xfrm>
            <a:off x="1088136" y="495604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00200" y="468172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Datele raman pe calculator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00200" y="5084064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Singurul moment cand ceva pleaca in exterior e redactarea textului cu AI — si acolo datele personale sunt anonimizate inainte.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Aplicatie de asistenta la evaluare  ·  casa + teren  ·  document pentru review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 E GANDITA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Patru parti care lucreaza impreuna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600200"/>
            <a:ext cx="51206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128016" cy="2011680"/>
          </a:xfrm>
          <a:prstGeom prst="rect">
            <a:avLst/>
          </a:prstGeom>
          <a:solidFill>
            <a:srgbClr val="152A4E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18562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Motor de calcul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43000" y="242316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(CIN), grila de teren, grila de casa, reconciliere si alocarea valorii — dupa metodologia ANEVAR.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1206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1600200"/>
            <a:ext cx="128016" cy="201168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8562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Descoperire comparabile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29400" y="242316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Cauta anunturi in zona, le citeste, le puncteaza dupa similaritate si propune cele mai potrivite.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77240" y="3840480"/>
            <a:ext cx="51206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3840480"/>
            <a:ext cx="128016" cy="2011680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1143000" y="409651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Generator de raport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43000" y="4663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Construieste documentul Word: coperta, declaratii, capitole de analiza, anexe — cu text si fotografii.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63640" y="3840480"/>
            <a:ext cx="51206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63640" y="3840480"/>
            <a:ext cx="128016" cy="201168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409651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Wizard in 5 pasi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629400" y="4663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Ghideaza evaluatorul de la identificarea proprietatii pana la descarcarea raportului.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59436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Filosofia: fiecare cifra poate fi verificata — aplicatia arata cum a ajuns la fiecare rezultat, nu doar valoarea finala.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Aplicatie de asistenta la evaluare  ·  casa + teren  ·  document pentru review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· TEREN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Grila de comparatie in doua etape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4937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91640"/>
            <a:ext cx="4937760" cy="640080"/>
          </a:xfrm>
          <a:prstGeom prst="rect">
            <a:avLst/>
          </a:prstGeom>
          <a:solidFill>
            <a:srgbClr val="152A4E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1783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Etapa 1 — Tranzactie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51560" y="24231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aplicare secventiala (compus)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97280" y="2788920"/>
            <a:ext cx="4434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-&gt; tranzactie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Drept de proprietate, finantare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Conditii de vanzare, cheltuieli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Conditiile pietei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760720" y="3017520"/>
            <a:ext cx="548640" cy="0"/>
          </a:xfrm>
          <a:prstGeom prst="line">
            <a:avLst/>
          </a:prstGeom>
          <a:noFill/>
          <a:ln w="38100">
            <a:solidFill>
              <a:srgbClr val="D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355080" y="1691640"/>
            <a:ext cx="4937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55080" y="1691640"/>
            <a:ext cx="4937760" cy="64008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3" name="Text 11"/>
          <p:cNvSpPr/>
          <p:nvPr/>
        </p:nvSpPr>
        <p:spPr>
          <a:xfrm>
            <a:off x="6629400" y="1783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Etapa 2 — Proprietate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629400" y="24231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aplicare aditiva pe pretul de baza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675120" y="2788920"/>
            <a:ext cx="4434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Localizare, acces, utilitati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Suprafata, deschidere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Inclinatie, tip teren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 juridic / urbanism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4754880"/>
            <a:ext cx="10515600" cy="1325880"/>
          </a:xfrm>
          <a:prstGeom prst="rect">
            <a:avLst/>
          </a:prstGeom>
          <a:solidFill>
            <a:srgbClr val="FBF3DE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51560" y="4892040"/>
            <a:ext cx="9966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Selectie: </a:t>
            </a:r>
            <a:pPr indent="0" marL="0">
              <a:buNone/>
            </a:pPr>
            <a:r>
              <a:rPr lang="en-US" sz="14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comparabilul cu ajustarea bruta minima pe etapa de proprietate (oferta-&gt;tranzactie NU se contorizeaza).   </a:t>
            </a:r>
            <a:pPr indent="0" marL="0">
              <a:buNone/>
            </a:pPr>
            <a:r>
              <a:rPr lang="en-US" sz="1450" b="1" dirty="0">
                <a:solidFill>
                  <a:srgbClr val="15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Valoarea terenului = </a:t>
            </a:r>
            <a:pPr indent="0" marL="0">
              <a:buNone/>
            </a:pPr>
            <a:r>
              <a:rPr lang="en-US" sz="14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pret/mp corectat al comparabilului ales × suprafata terenului.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Aplicatie de asistenta la evaluare  ·  casa + teren  ·  document pentru review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· CASA SI COST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Grila pe pret total + abordarea prin cost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645920"/>
            <a:ext cx="521208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18288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Casa — grila pe pret total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97280" y="2377440"/>
            <a:ext cx="46634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Aceleasi doua etape (tranzactie secvential + proprietate aditiv), dar pe pretul TOTAL.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Diferenta de marime se trateaza ca ajustare valorica de arie utila (pret unitar × diferenta mp).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Fiecare comparabil este astfel 'adus' la subiect.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Valoarea prin comparatie = pretul total corectat al comparabilului ales.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512064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Abordarea prin cost (CIN)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37744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de inlocuire net, segregat pe elemente (catalog IROVAL).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 = CIB × (1-depr. fizica) × (1-depr. functionala) × (1-depr. externa).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Depreciere fizica interpolata dupa varsta ponderata.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Valoare prin cost = CIN + valoarea terenului.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Reconciliere (piata / cost / ponderata) + alocare: constructii = proprietate - teren.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Aplicatie de asistenta la evaluare  ·  casa + teren  ·  document pentru review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2A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Reproduce exact grilele reale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Valorile de teren din patru dosare reale, reproduse la cent (EUR):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194560"/>
            <a:ext cx="2468880" cy="1828800"/>
          </a:xfrm>
          <a:prstGeom prst="rect">
            <a:avLst/>
          </a:prstGeom>
          <a:solidFill>
            <a:srgbClr val="1E3A66"/>
          </a:solidFill>
          <a:ln w="12700">
            <a:solidFill>
              <a:srgbClr val="D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68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44.000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3566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Maneciu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474720" y="2194560"/>
            <a:ext cx="2468880" cy="1828800"/>
          </a:xfrm>
          <a:prstGeom prst="rect">
            <a:avLst/>
          </a:prstGeom>
          <a:solidFill>
            <a:srgbClr val="1E3A66"/>
          </a:solidFill>
          <a:ln w="12700">
            <a:solidFill>
              <a:srgbClr val="D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2468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78.000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47472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4720" y="3566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Brasov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172200" y="2194560"/>
            <a:ext cx="2468880" cy="1828800"/>
          </a:xfrm>
          <a:prstGeom prst="rect">
            <a:avLst/>
          </a:prstGeom>
          <a:solidFill>
            <a:srgbClr val="1E3A66"/>
          </a:solidFill>
          <a:ln w="12700">
            <a:solidFill>
              <a:srgbClr val="D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72200" y="2468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34.000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617220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72200" y="3566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Busteni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869680" y="2194560"/>
            <a:ext cx="2468880" cy="1828800"/>
          </a:xfrm>
          <a:prstGeom prst="rect">
            <a:avLst/>
          </a:prstGeom>
          <a:solidFill>
            <a:srgbClr val="1E3A66"/>
          </a:solidFill>
          <a:ln w="12700">
            <a:solidFill>
              <a:srgbClr val="D9A22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0" y="2468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67.000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886968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869680" y="3566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Breaza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77240" y="44805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Toate cele 12 comparabile de teren  ·  preturile totale ale comparabilelor de casa (Busteni)  ·  costul (CIN)  </a:t>
            </a:r>
            <a:pPr indent="0" marL="0">
              <a:buNone/>
            </a:pPr>
            <a:r>
              <a:rPr lang="en-US" sz="1500" b="1" dirty="0">
                <a:solidFill>
                  <a:srgbClr val="D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reproduse exact.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77240" y="5120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Aceasta este dovada ca aplicatia aplica aceeasi logica de calcul ca dosarele tale.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Aplicatie de asistenta la evaluare  ·  casa + teren  ·  document pentru review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FLUXUL DE LUCRU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Wizardul in cinci pasi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417320" y="1828800"/>
            <a:ext cx="685800" cy="685800"/>
          </a:xfrm>
          <a:prstGeom prst="ellipse">
            <a:avLst/>
          </a:prstGeom>
          <a:solidFill>
            <a:srgbClr val="152A4E"/>
          </a:solidFill>
          <a:ln/>
        </p:spPr>
      </p:sp>
      <p:sp>
        <p:nvSpPr>
          <p:cNvPr id="6" name="Text 4"/>
          <p:cNvSpPr/>
          <p:nvPr/>
        </p:nvSpPr>
        <p:spPr>
          <a:xfrm>
            <a:off x="141732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2194560" y="2176272"/>
            <a:ext cx="658368" cy="0"/>
          </a:xfrm>
          <a:prstGeom prst="line">
            <a:avLst/>
          </a:prstGeom>
          <a:noFill/>
          <a:ln w="25400">
            <a:solidFill>
              <a:srgbClr val="DDE3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834640"/>
            <a:ext cx="1965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30175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Adresa &amp; lucrare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96112" y="37033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Judet/localitate, client, beneficiar, evaluator, date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0" y="1828800"/>
            <a:ext cx="685800" cy="685800"/>
          </a:xfrm>
          <a:prstGeom prst="ellipse">
            <a:avLst/>
          </a:prstGeom>
          <a:solidFill>
            <a:srgbClr val="152A4E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4434840" y="2176272"/>
            <a:ext cx="658368" cy="0"/>
          </a:xfrm>
          <a:prstGeom prst="line">
            <a:avLst/>
          </a:prstGeom>
          <a:noFill/>
          <a:ln w="25400">
            <a:solidFill>
              <a:srgbClr val="DDE3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17520" y="2834640"/>
            <a:ext cx="1965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108960" y="30175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Proprietatea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136392" y="37033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Teren, arii, an, elemente de cost, depreciere, atribute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897880" y="1828800"/>
            <a:ext cx="685800" cy="685800"/>
          </a:xfrm>
          <a:prstGeom prst="ellipse">
            <a:avLst/>
          </a:prstGeom>
          <a:solidFill>
            <a:srgbClr val="152A4E"/>
          </a:solidFill>
          <a:ln/>
        </p:spPr>
      </p:sp>
      <p:sp>
        <p:nvSpPr>
          <p:cNvPr id="18" name="Text 16"/>
          <p:cNvSpPr/>
          <p:nvPr/>
        </p:nvSpPr>
        <p:spPr>
          <a:xfrm>
            <a:off x="589788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6675120" y="2176272"/>
            <a:ext cx="658368" cy="0"/>
          </a:xfrm>
          <a:prstGeom prst="line">
            <a:avLst/>
          </a:prstGeom>
          <a:noFill/>
          <a:ln w="25400">
            <a:solidFill>
              <a:srgbClr val="DDE3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257800" y="2834640"/>
            <a:ext cx="1965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349240" y="30175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Comparabile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376672" y="37033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Cautare automata, import din link sau introducere manuala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38160" y="1828800"/>
            <a:ext cx="685800" cy="685800"/>
          </a:xfrm>
          <a:prstGeom prst="ellipse">
            <a:avLst/>
          </a:prstGeom>
          <a:solidFill>
            <a:srgbClr val="152A4E"/>
          </a:solidFill>
          <a:ln/>
        </p:spPr>
      </p:sp>
      <p:sp>
        <p:nvSpPr>
          <p:cNvPr id="24" name="Text 22"/>
          <p:cNvSpPr/>
          <p:nvPr/>
        </p:nvSpPr>
        <p:spPr>
          <a:xfrm>
            <a:off x="813816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915400" y="2176272"/>
            <a:ext cx="658368" cy="0"/>
          </a:xfrm>
          <a:prstGeom prst="line">
            <a:avLst/>
          </a:prstGeom>
          <a:noFill/>
          <a:ln w="25400">
            <a:solidFill>
              <a:srgbClr val="DDE3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0" y="2834640"/>
            <a:ext cx="1965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589520" y="30175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Metoda &amp; calcul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616952" y="37033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Metoda, moneda, curs, fotografii, calcul + alerte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378440" y="1828800"/>
            <a:ext cx="685800" cy="685800"/>
          </a:xfrm>
          <a:prstGeom prst="ellipse">
            <a:avLst/>
          </a:prstGeom>
          <a:solidFill>
            <a:srgbClr val="152A4E"/>
          </a:solidFill>
          <a:ln/>
        </p:spPr>
      </p:sp>
      <p:sp>
        <p:nvSpPr>
          <p:cNvPr id="30" name="Text 28"/>
          <p:cNvSpPr/>
          <p:nvPr/>
        </p:nvSpPr>
        <p:spPr>
          <a:xfrm>
            <a:off x="1037844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600" dirty="0"/>
          </a:p>
        </p:txBody>
      </p:sp>
      <p:sp>
        <p:nvSpPr>
          <p:cNvPr id="31" name="Shape 29"/>
          <p:cNvSpPr/>
          <p:nvPr/>
        </p:nvSpPr>
        <p:spPr>
          <a:xfrm>
            <a:off x="9738360" y="2834640"/>
            <a:ext cx="1965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829800" y="30175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Raport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857232" y="37033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Genereaza si descarca documentul Word, editabil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Aplicatie de asistenta la evaluare  ·  casa + teren  ·  document pentru review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EXTERNE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Descoperirea automata de comparabile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67665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05840" y="1993392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1042416" y="2011680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54480" y="1801368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Cauta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200400" y="1801368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Anunturi pe portaluri imobiliare, in zona aleasa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2752344"/>
            <a:ext cx="67665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005840" y="3054096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3072384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54480" y="28620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Citeste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200400" y="2862072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Extrage atributele din descriere (an, stare, finisaj, incalzire, suprafete)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" y="3813048"/>
            <a:ext cx="67665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05840" y="4114800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7" name="Text 15"/>
          <p:cNvSpPr/>
          <p:nvPr/>
        </p:nvSpPr>
        <p:spPr>
          <a:xfrm>
            <a:off x="1042416" y="413308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54480" y="392277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Puncteaza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200400" y="3922776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Similaritate dupa 6 criterii ponderate fata de subiect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77240" y="4873752"/>
            <a:ext cx="67665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005840" y="5175504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2" name="Text 20"/>
          <p:cNvSpPr/>
          <p:nvPr/>
        </p:nvSpPr>
        <p:spPr>
          <a:xfrm>
            <a:off x="1042416" y="5193792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54480" y="49834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Explica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200400" y="498348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Pentru fiecare criteriu: referinta, gasit, diferenta, pondere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818120" y="1691640"/>
            <a:ext cx="3566160" cy="4087368"/>
          </a:xfrm>
          <a:prstGeom prst="rect">
            <a:avLst/>
          </a:prstGeom>
          <a:solidFill>
            <a:srgbClr val="152A4E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04672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ce conteaza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46720" y="2377440"/>
            <a:ext cx="31546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Evaluatorul intelege DE CE un anunt e mai relevant decat altul — fara sa acceseze documentatia tehnica. Comparabilele alese pot popula direct grila; ajustarile le pune evaluatorul.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Aplicatie de asistenta la evaluare  ·  casa + teren  ·  document pentru review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REZULTATUL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Raportul Word generat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1691640"/>
            <a:ext cx="5852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Coperta, scrisoare de transmitere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Declaratie de conformitate si certificare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Termeni de referinta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capitole de analiza (cu grilele de calcul)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Alocarea valorii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Riscul asociat garantiei (GEV 520)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Anexe: surse comparabile + fotografii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Caseta de semnatura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040880" y="1691640"/>
            <a:ext cx="43891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pic>
        <p:nvPicPr>
          <p:cNvPr id="7" name="Image 0" descr="C:\Users\adyse\AppData\Local\Temp\demo\fat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69480" y="1920240"/>
            <a:ext cx="3931920" cy="1234440"/>
          </a:xfrm>
          <a:prstGeom prst="rect">
            <a:avLst/>
          </a:prstGeom>
        </p:spPr>
      </p:pic>
      <p:pic>
        <p:nvPicPr>
          <p:cNvPr id="8" name="Image 1" descr="C:\Users\adyse\AppData\Local\Temp\demo\curt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269480" y="3246120"/>
            <a:ext cx="3931920" cy="12344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040880" y="47548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Anexa foto — pozele intra direct in raport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7040880" y="5166360"/>
            <a:ext cx="4389120" cy="777240"/>
          </a:xfrm>
          <a:prstGeom prst="rect">
            <a:avLst/>
          </a:prstGeom>
          <a:solidFill>
            <a:srgbClr val="FBF3DE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223760" y="5230368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Textul de analiza e redactat cu AI pe baza cifrelor — evaluatorul revizuieste.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Aplicatie de asistenta la evaluare  ·  casa + teren  ·  document pentru review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CONFIDENTIALITATE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Datele personale nu ajung la AI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2011680"/>
            <a:ext cx="246888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011680"/>
            <a:ext cx="2468880" cy="109728"/>
          </a:xfrm>
          <a:prstGeom prst="rect">
            <a:avLst/>
          </a:prstGeom>
          <a:solidFill>
            <a:srgbClr val="152A4E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86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Date reale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28803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Nume, adresa, cadastral, CF, evaluator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64408" y="3108960"/>
            <a:ext cx="237744" cy="0"/>
          </a:xfrm>
          <a:prstGeom prst="line">
            <a:avLst/>
          </a:prstGeom>
          <a:noFill/>
          <a:ln w="25400">
            <a:solidFill>
              <a:srgbClr val="5C667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520440" y="2011680"/>
            <a:ext cx="246888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20440" y="2011680"/>
            <a:ext cx="2468880" cy="109728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2286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Anonimizare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703320" y="28803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Inlocuite cu marcaje: [CLIENT], [ADRESA]...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07608" y="3108960"/>
            <a:ext cx="237744" cy="0"/>
          </a:xfrm>
          <a:prstGeom prst="line">
            <a:avLst/>
          </a:prstGeom>
          <a:noFill/>
          <a:ln w="25400">
            <a:solidFill>
              <a:srgbClr val="5C667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263640" y="2011680"/>
            <a:ext cx="246888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63640" y="2011680"/>
            <a:ext cx="2468880" cy="10972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7" name="Text 15"/>
          <p:cNvSpPr/>
          <p:nvPr/>
        </p:nvSpPr>
        <p:spPr>
          <a:xfrm>
            <a:off x="6446520" y="2286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46520" y="28803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Primeste DOAR text anonimizat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750808" y="3108960"/>
            <a:ext cx="237744" cy="0"/>
          </a:xfrm>
          <a:prstGeom prst="line">
            <a:avLst/>
          </a:prstGeom>
          <a:noFill/>
          <a:ln w="25400">
            <a:solidFill>
              <a:srgbClr val="5C667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006840" y="2011680"/>
            <a:ext cx="246888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006840" y="2011680"/>
            <a:ext cx="2468880" cy="109728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2" name="Text 20"/>
          <p:cNvSpPr/>
          <p:nvPr/>
        </p:nvSpPr>
        <p:spPr>
          <a:xfrm>
            <a:off x="9189720" y="2286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Demascare locala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189720" y="28803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Numele reale revin pe calculator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Restul calculelor si generarea documentului se fac integral pe calculatorul evaluatorului.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Aplicatie de asistenta la evaluare  ·  casa + teren  ·  document pentru review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ONESTITATE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A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mai e de facut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737360"/>
            <a:ext cx="106070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737360"/>
            <a:ext cx="109728" cy="694944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1737360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Validarea grilei de casa si pe celelalte dosare reale (Maneciu, Brasov)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578608"/>
            <a:ext cx="106070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578608"/>
            <a:ext cx="109728" cy="694944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578608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Cursul valutar — momentan introdus manual (nu automat de la BNR)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419856"/>
            <a:ext cx="106070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419856"/>
            <a:ext cx="109728" cy="694944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3419856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Anexa cu documente (extras CF, acte) — momentan marcaj 'de atasat'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4261104"/>
            <a:ext cx="106070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261104"/>
            <a:ext cx="109728" cy="694944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4261104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PDF al raportului (acum Word, salvabil ca PDF manual)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5102352"/>
            <a:ext cx="106070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5102352"/>
            <a:ext cx="109728" cy="694944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19" name="Text 17"/>
          <p:cNvSpPr/>
          <p:nvPr/>
        </p:nvSpPr>
        <p:spPr>
          <a:xfrm>
            <a:off x="1143000" y="5102352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multa testare pe cazuri reale variate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Aplicatie de asistenta la evaluare  ·  casa + teren  ·  document pentru review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2A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146304" cy="457200"/>
          </a:xfrm>
          <a:prstGeom prst="rect">
            <a:avLst/>
          </a:prstGeom>
          <a:solidFill>
            <a:srgbClr val="D9A227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6035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FEEDBACK CAUT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58952" y="8686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Intrebari pentru tine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1783080"/>
            <a:ext cx="10241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Metodologia terenului (doua etape, selectie pe ajustare bruta minima, fara oferta) — corecta?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Metodologia casei (pret total, arie utila ca ajustare valorica) si regula de selectie — corecte?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Reconcilierea si alocarea (constructii = proprietate - teren) — in regula pentru garantare?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Raportul (declaratii, termeni, GEV 520, anexe) — complet si acceptabil pentru banci?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 Validarile automate (minim comparabile, outlier, limita ajustare) — praguri potrivite?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 Orice ar face raportul respins sau ar trebui adaugat.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5989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D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Orice observatie, chiar si 'asa nu se face', e exact ce caut. Multumesc pentru timp.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Prezentare pentru evaluator</dc:title>
  <dc:subject>PptxGenJS Presentation</dc:subject>
  <dc:creator>Aplicatie evaluare ANEVAR</dc:creator>
  <cp:lastModifiedBy>Aplicatie evaluare ANEVAR</cp:lastModifiedBy>
  <cp:revision>1</cp:revision>
  <dcterms:created xsi:type="dcterms:W3CDTF">2026-06-04T14:59:00Z</dcterms:created>
  <dcterms:modified xsi:type="dcterms:W3CDTF">2026-06-04T14:59:00Z</dcterms:modified>
</cp:coreProperties>
</file>