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C:\Users\adyse\anevar\evaluare-anevar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841248"/>
            <a:ext cx="969264" cy="9692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23317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REGISTRU DE EVALUARE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566928" y="3200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ANEVAR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 de evaluare imobiliară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566928" y="4434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Casă + teren · apartament · comercial · industrial · agricol — pentru garantare, IFRS, asigurare, impozitare, litigiu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66928" y="5257800"/>
            <a:ext cx="11064240" cy="0"/>
          </a:xfrm>
          <a:prstGeom prst="line">
            <a:avLst/>
          </a:prstGeom>
          <a:noFill/>
          <a:ln w="12700">
            <a:solidFill>
              <a:srgbClr val="33476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face aplicația  ·  cum e gândită  ·  ce metodologie aplică  ·  ce e validat  ·  ce urmează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SCURT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aplicația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474720" cy="4023360"/>
          </a:xfrm>
          <a:prstGeom prst="roundRect">
            <a:avLst>
              <a:gd name="adj" fmla="val 236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91640"/>
            <a:ext cx="347472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886968" y="20574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9536" y="28346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Asistă evaluatorul, nu îl înlocuiește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59536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Automatizează partea repetitivă — calcule, căutare de comparabile, redactarea raportului. Evaluatorul decide și verifică (om în buclă).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79392" y="1691640"/>
            <a:ext cx="3474720" cy="4023360"/>
          </a:xfrm>
          <a:prstGeom prst="roundRect">
            <a:avLst>
              <a:gd name="adj" fmla="val 236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79392" y="1691640"/>
            <a:ext cx="347472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99432" y="20574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28346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Rulează local, ca un singur .exe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4572000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deschide o pagină în browser, pe calculatorul propriu. Fără instalări, fără server extern — funcționează offline.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91856" y="1691640"/>
            <a:ext cx="3474720" cy="4023360"/>
          </a:xfrm>
          <a:prstGeom prst="roundRect">
            <a:avLst>
              <a:gd name="adj" fmla="val 236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91856" y="1691640"/>
            <a:ext cx="347472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311896" y="20574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831189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84464" y="28346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rămân pe calculator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8284464" y="37033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Singurul moment când ceva pleacă în exterior e redactarea textului cu AI — și acolo datele personale sunt anonimizate înainte.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 E GÂNDITĂ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care lucrează împreună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949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118872" cy="162763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886968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6968" y="226771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(CIN), comparație (teren + casă), venit (capitalizare directă + DCF), reconciliere și alocare — pe tip de proprietate și scop.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1645920"/>
            <a:ext cx="53949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0488" y="1645920"/>
            <a:ext cx="118872" cy="162763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10528" y="226771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Caută anunțuri în zonă, le citește, le punctează după similaritate și propune cele mai potrivite.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53949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3429000"/>
            <a:ext cx="118872" cy="162763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886968" y="3611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 + AML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86968" y="40507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 Word (SEV 2025) cu text, grile și fotografii; plus modulul AML (Legea 129/2019): KYC, risc, documente.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90488" y="3429000"/>
            <a:ext cx="53949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0488" y="3429000"/>
            <a:ext cx="118872" cy="162763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3611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în 5 pași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10528" y="40507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Ghidează evaluatorul de la identificarea proprietății până la descărcarea raportului.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Filosofia: </a:t>
            </a:r>
            <a:pPr algn="ctr" indent="0" marL="0">
              <a:buNone/>
            </a:pPr>
            <a:r>
              <a:rPr lang="en-US" sz="1350" i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cifră poate fi verificată — aplicația arată cum a ajuns la fiecare rezultat, nu doar valoarea finală.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TEREN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comparație în două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949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5394960" cy="60350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64592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Tranzacție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secvențială (compus)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86968" y="26517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Ofertă → tranzacție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Drept de proprietate, finanțare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Condiții de vânzare, cheltuieli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Condițiile pieței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0488" y="1645920"/>
            <a:ext cx="53949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90488" y="1645920"/>
            <a:ext cx="5394960" cy="6035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64808" y="164592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64808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 aditivă pe prețul de bază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10528" y="26517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Localizare, acces, utilități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Suprafață, deschidere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Înclinație, tip teren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4EAF3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7548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Selecție: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comparabilul cu ajustarea brută minimă pe etapa de proprietate (ofertă→tranzacție NU se contorizează).  </a:t>
            </a:r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terenului = preț/mp corectat al comparabilului ales × suprafața terenului.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CASĂ, COST, VENIT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Comparație pe preț total · cost · venit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118872" cy="3200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886968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Casă — grilă pe preț total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Aceleași două etape (tranzacție secvențial + proprietate aditiv), dar pe prețul TOTAL.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Diferența de mărime = ajustare valorică de arie utilă (preț unitar × diferență mp).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comparabil este «adus» la subiect.</a:t>
            </a:r>
            <a:endParaRPr lang="en-US" sz="125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Valoarea prin comparație = prețul total corectat al comparabilului 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0488" y="1645920"/>
            <a:ext cx="118872" cy="32004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(CIN) și venit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înlocuire net, segregat pe elemente (catalog IROVAL).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CIB × (1−depr. fizică) × (1−funcțională) × (1−externă); valoare = CIN + teren.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Venit: capitalizare directă (VBP din grila de chirii) sau DCF (fluxuri + valoare reziduală).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2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Reconciliere (cost / comparație / venit) + alocare: construcții = proprietate − teren.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 SEV 103 «Abordări» și SEV 105 «Modele de evaluare».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Valorile de teren din patru dosare reale, reproduse la cent (EUR):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2606040" cy="2194560"/>
          </a:xfrm>
          <a:prstGeom prst="roundRect">
            <a:avLst>
              <a:gd name="adj" fmla="val 3750"/>
            </a:avLst>
          </a:prstGeom>
          <a:solidFill>
            <a:srgbClr val="1F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514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566928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37307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Mâneciu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194560"/>
            <a:ext cx="2606040" cy="2194560"/>
          </a:xfrm>
          <a:prstGeom prst="roundRect">
            <a:avLst>
              <a:gd name="adj" fmla="val 3750"/>
            </a:avLst>
          </a:prstGeom>
          <a:solidFill>
            <a:srgbClr val="1F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2514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3364992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64992" y="37307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Brașov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63056" y="2194560"/>
            <a:ext cx="2606040" cy="2194560"/>
          </a:xfrm>
          <a:prstGeom prst="roundRect">
            <a:avLst>
              <a:gd name="adj" fmla="val 3750"/>
            </a:avLst>
          </a:prstGeom>
          <a:solidFill>
            <a:srgbClr val="1F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63056" y="2514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4100" dirty="0"/>
          </a:p>
        </p:txBody>
      </p:sp>
      <p:sp>
        <p:nvSpPr>
          <p:cNvPr id="16" name="Text 14"/>
          <p:cNvSpPr/>
          <p:nvPr/>
        </p:nvSpPr>
        <p:spPr>
          <a:xfrm>
            <a:off x="6163056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63056" y="37307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Bușteni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61120" y="2194560"/>
            <a:ext cx="2606040" cy="2194560"/>
          </a:xfrm>
          <a:prstGeom prst="roundRect">
            <a:avLst>
              <a:gd name="adj" fmla="val 3750"/>
            </a:avLst>
          </a:prstGeom>
          <a:solidFill>
            <a:srgbClr val="1F3A5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0" y="2514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4100" dirty="0"/>
          </a:p>
        </p:txBody>
      </p:sp>
      <p:sp>
        <p:nvSpPr>
          <p:cNvPr id="20" name="Text 18"/>
          <p:cNvSpPr/>
          <p:nvPr/>
        </p:nvSpPr>
        <p:spPr>
          <a:xfrm>
            <a:off x="8961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0" y="37307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4EAF3"/>
          </a:solidFill>
          <a:ln/>
        </p:spPr>
      </p:sp>
      <p:sp>
        <p:nvSpPr>
          <p:cNvPr id="23" name="Text 21"/>
          <p:cNvSpPr/>
          <p:nvPr/>
        </p:nvSpPr>
        <p:spPr>
          <a:xfrm>
            <a:off x="886968" y="48006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comparabilele de teren · prețurile totale ale comparabilelor de casă · costul (CIN) —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reproduse exact. </a:t>
            </a:r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Aplicația nu «inventează» cifre: aplică aceeași metodă ca evaluatorul, transparent.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FLUXUL DE LUCRU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în cinci pași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066544" cy="3017520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1627632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24688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Adresă &amp; lucrare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Județ/localitate, client, beneficiar, evaluator, date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41448" y="16276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79776" y="1965960"/>
            <a:ext cx="2066544" cy="3017520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1627632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538728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44368" y="315468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Tip, teren, arii, an, elemente de cost, atribute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54296" y="16276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92624" y="1965960"/>
            <a:ext cx="2066544" cy="3017520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51576" y="1627632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5751576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29784" y="24688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57216" y="315468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Căutare automată, import din link sau manual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67144" y="16276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205472" y="1965960"/>
            <a:ext cx="2066544" cy="3017520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4424" y="1627632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7964424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342632" y="24688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Metodă &amp; calcul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70064" y="315468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Abordare, monedă, curs BNR, fotografii, calcul + alerte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079992" y="16276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418320" y="1965960"/>
            <a:ext cx="2066544" cy="3017520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177272" y="1627632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/>
          <p:nvPr/>
        </p:nvSpPr>
        <p:spPr>
          <a:xfrm>
            <a:off x="10177272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555480" y="24688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582912" y="315468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Generează și descarcă documentul Word, editabil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 clickabil + panou «Date dosar» cu recapitulare live · interfață în stil registru cadastral.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EXTERNE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automată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Anunțuri pe portaluri, în zona aleasă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7830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39312" y="20116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63931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33672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Citește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39312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Extrage atribute (an, stare, finisaj, suprafețe)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63056" y="17830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37376" y="20116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31736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37376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Similaritate, 6 criterii ponderate vs. subiect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61120" y="178308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35440" y="20116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92354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82980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Explică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23544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criteriu: referință, găsit, diferență, pondere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404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13243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66928" y="3840480"/>
            <a:ext cx="12801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932688" y="40233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 prin extensie de browser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32688" y="4498848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Evaluatorul deschide MANUAL un anunț pe storia.ro / imobiliare.ro și apasă un buton — extensia trimite pagina în aplicație. Fără scraping automat, fără anti-bot.</a:t>
            </a:r>
            <a:endParaRPr lang="en-US" sz="13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C7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Anunțurile intră într-o coadă persistentă și populează direct grila. Prețurile sunt din OFERTE — ajustarea ofertă→tranzacție o pune evaluatorul.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REZULTATUL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65836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965960"/>
            <a:ext cx="5943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Copertă + scrisoare de transmitere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Declarație de conformitate și certificare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Termeni de referință (SEV 101)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capitole de analiză + grilele de calcul (SEV 106)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Drept evaluat, sarcini CF, utilități, regim urbanistic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Alocarea valorii + riscul garanției (GEV 520)</a:t>
            </a:r>
            <a:endParaRPr lang="en-US" sz="1350" dirty="0"/>
          </a:p>
          <a:p>
            <a:pPr marL="228600" indent="-228600">
              <a:buSzPct val="100000"/>
              <a:buChar char="✓"/>
            </a:pPr>
            <a:r>
              <a:rPr lang="en-US" sz="13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Anexe: surse comparabile + fotografii + casetă semnătură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70648" y="169164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E4EAF3"/>
          </a:solidFill>
          <a:ln/>
        </p:spPr>
      </p:sp>
      <p:sp>
        <p:nvSpPr>
          <p:cNvPr id="8" name="Text 6"/>
          <p:cNvSpPr/>
          <p:nvPr/>
        </p:nvSpPr>
        <p:spPr>
          <a:xfrm>
            <a:off x="7744968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Anexa foto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44968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Pozele intră direct în raport.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44968" y="3017520"/>
            <a:ext cx="3566160" cy="0"/>
          </a:xfrm>
          <a:prstGeom prst="line">
            <a:avLst/>
          </a:prstGeom>
          <a:noFill/>
          <a:ln w="12700">
            <a:solidFill>
              <a:srgbClr val="C2CE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4968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 redactat cu AI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44968" y="36118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Textul de analiză e scris pe baza cifrelor deterministe — evaluatorul revizuiește și își asumă.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CONFIDENȚIALITATE (GDPR)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2468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148840"/>
            <a:ext cx="2468880" cy="1097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95528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95528" y="3429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Nume, adresă, cadastral, CF, evaluator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962656" y="214884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64992" y="2148840"/>
            <a:ext cx="2468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64992" y="2148840"/>
            <a:ext cx="2468880" cy="1097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93592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593592" y="3429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Înlocuite cu marcaje: [CLIENT], [ADRESA]…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60720" y="214884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63056" y="2148840"/>
            <a:ext cx="2468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63056" y="2148840"/>
            <a:ext cx="2468880" cy="1097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6345936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391656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391656" y="3429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Primește DOAR text anonimizat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58784" y="214884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961120" y="2148840"/>
            <a:ext cx="2468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0" y="2148840"/>
            <a:ext cx="2468880" cy="1097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0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8972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locală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189720" y="3429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Numele reale revin pe calculator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4846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Restul calculelor și generarea documentului se fac integral pe calculatorul evaluatorului. CNP/telefon/e-mail scăpat e prins de o plasă suplimentară înainte de 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ONESTITATE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făcut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783080"/>
            <a:ext cx="109728" cy="8961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82880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Surse de date oficiale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07408" y="182880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IROVAL (costuri unitare), BIG, ANCPI — necesită acces / membru ANEVAR.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" y="2807208"/>
            <a:ext cx="109728" cy="8961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285292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 AML live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Sancțiuni UE/ONU, PEP — momentan injectabile, de reîmprospătat din surse oficiale.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831336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3831336"/>
            <a:ext cx="109728" cy="8961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387705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Calibrare metodologică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07408" y="3877056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Pragurile și regulile de selecție se confirmă de un evaluator senior.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855464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4855464"/>
            <a:ext cx="109728" cy="8961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901184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Validare juridică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7408" y="4901184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Textele AML/GDPR și semnătura digitală a .exe — de confirmat cu juristul.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Aplicația AVERTIZEAZĂ, nu decide — limitările sunt declarate deschis, nu ascunse.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12700">
            <a:solidFill>
              <a:srgbClr val="D8DC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67567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155448" cy="1554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12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FEEDBACK CAUT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 pentru tine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25296" y="17830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terenului (două etape, selecție pe ajustare brută minimă, fără ofertă) — corectă?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25296" y="24414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casei (preț total, arie utilă ca ajustare valorică) și regula de selecție — corecte?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09981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309981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Abordarea prin venit (capitalizare directă + DCF) și grila de chirii — în regulă?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75818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25296" y="3758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Reconcilierea și alocarea (construcții = proprietate − teren) — în regulă pentru garantare?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441655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225296" y="441655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Raportul (declarații, termeni, GEV 520, anexe) — complet și acceptabil pentru bănci?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66928" y="507492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25296" y="5074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Orice ar face raportul respins sau ar trebui adăugat.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66928" y="5852160"/>
            <a:ext cx="11064240" cy="0"/>
          </a:xfrm>
          <a:prstGeom prst="line">
            <a:avLst/>
          </a:prstGeom>
          <a:noFill/>
          <a:ln w="12700">
            <a:solidFill>
              <a:srgbClr val="3347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Orice observație, chiar și «așa nu se face», e exact ce caut. </a:t>
            </a:r>
            <a:pPr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Mulțumesc pentru timp.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Registru de Evaluare · ANEVAR</dc:title>
  <dc:subject>PptxGenJS Presentation</dc:subject>
  <dc:creator>Evaluare ANEVAR</dc:creator>
  <cp:lastModifiedBy>Evaluare ANEVAR</cp:lastModifiedBy>
  <cp:revision>1</cp:revision>
  <dcterms:created xsi:type="dcterms:W3CDTF">2026-06-06T19:54:18Z</dcterms:created>
  <dcterms:modified xsi:type="dcterms:W3CDTF">2026-06-06T19:54:18Z</dcterms:modified>
</cp:coreProperties>
</file>