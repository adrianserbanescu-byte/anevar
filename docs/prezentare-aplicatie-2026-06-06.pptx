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201168"/>
          </a:xfrm>
          <a:prstGeom prst="rect">
            <a:avLst/>
          </a:prstGeom>
          <a:solidFill>
            <a:srgbClr val="27408B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201168"/>
          </a:xfrm>
          <a:prstGeom prst="rect">
            <a:avLst/>
          </a:prstGeom>
          <a:solidFill>
            <a:srgbClr val="D7A92B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201168"/>
          </a:xfrm>
          <a:prstGeom prst="rect">
            <a:avLst/>
          </a:prstGeom>
          <a:solidFill>
            <a:srgbClr val="A5301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1314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9C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· ANEVAR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Asistent de evaluare imobiliară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Casă + teren, apartament, comercial, industrial, agricol — pentru garantare, IFRS, asigurare, impozitare, litigiu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face aplicația · cum e gândită · ce metodologie aplică · ce e validat · ce urmează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 SCURT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este aplicația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54480"/>
            <a:ext cx="10607040" cy="12801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011680"/>
            <a:ext cx="310896" cy="310896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8" name="Text 6"/>
          <p:cNvSpPr/>
          <p:nvPr/>
        </p:nvSpPr>
        <p:spPr>
          <a:xfrm>
            <a:off x="1088136" y="20299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7556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Asistă evaluatorul, nu îl înlocuiește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15798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Automatizează partea repetitivă — calcule, căutare de comparabile, redactarea raportului. Evaluatorul decide și verifică (om în buclă).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10607040" cy="12801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474720"/>
            <a:ext cx="310896" cy="310896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13" name="Text 11"/>
          <p:cNvSpPr/>
          <p:nvPr/>
        </p:nvSpPr>
        <p:spPr>
          <a:xfrm>
            <a:off x="1088136" y="34930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21868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Rulează local, ca un singur fișier .exe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62102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deschide o pagină în browser, pe calculatorul propriu. Fără instalări, fără server extern — funcționează offline.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480560"/>
            <a:ext cx="10607040" cy="12801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937760"/>
            <a:ext cx="310896" cy="310896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18" name="Text 16"/>
          <p:cNvSpPr/>
          <p:nvPr/>
        </p:nvSpPr>
        <p:spPr>
          <a:xfrm>
            <a:off x="1088136" y="49560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6817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Datele rămân pe calculator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508406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Singurul moment când ceva pleacă în exterior e redactarea textului cu AI — și acolo datele personale sunt anonimizate înainte.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 E GÂNDITĂ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care lucrează împreună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00200"/>
            <a:ext cx="5120640" cy="201168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00200"/>
            <a:ext cx="128016" cy="201168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856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calcul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(CIN), comparație (teren + casă), venit (capitalizare directă + DCF), reconciliere și alocare — pe tip de proprietate și scop.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120640" cy="201168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00200"/>
            <a:ext cx="128016" cy="2011680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856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Descoperire comparabile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Caută anunțuri în zonă, le citește, le punctează după similaritate și propune cele mai potrivite.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5120640" cy="201168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40480"/>
            <a:ext cx="128016" cy="201168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096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 de raport + AML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663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Raportul Word (SEV 2025) cu text, grile și fotografii; plus modulul AML (Legea 129/2019): KYC, risc, documente.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120640" cy="201168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840480"/>
            <a:ext cx="128016" cy="2011680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096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Wizard în 5 pași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29400" y="4663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Ghidează evaluatorul de la identificarea proprietății până la descărcarea raportului.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5943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Filosofia: fiecare cifră poate fi verificată — aplicația arată cum a ajuns la fiecare rezultat, nu doar valoarea finală.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METODOLOGIA · TEREN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Grila de comparație în două etape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91640"/>
            <a:ext cx="4937760" cy="283464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4937760" cy="640080"/>
          </a:xfrm>
          <a:prstGeom prst="rect">
            <a:avLst/>
          </a:prstGeom>
          <a:solidFill>
            <a:srgbClr val="16263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 1 — Tranzacție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423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aplicare secvențială (compus)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278892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Ofertă → tranzacție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Drept de proprietate, finanțare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Condiții de vânzare, cheltuieli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Condițiile pieței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3017520"/>
            <a:ext cx="548640" cy="0"/>
          </a:xfrm>
          <a:prstGeom prst="line">
            <a:avLst/>
          </a:prstGeom>
          <a:noFill/>
          <a:ln w="38100">
            <a:solidFill>
              <a:srgbClr val="9D4A2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55080" y="1691640"/>
            <a:ext cx="4937760" cy="283464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691640"/>
            <a:ext cx="4937760" cy="640080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 2 — Proprietate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2423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aplicare aditivă pe prețul de bază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0" y="278892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Localizare, acces, utilități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Suprafață, deschidere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Înclinație, tip teren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Regim juridic / urbanism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754880"/>
            <a:ext cx="10515600" cy="1325880"/>
          </a:xfrm>
          <a:prstGeom prst="rect">
            <a:avLst/>
          </a:prstGeom>
          <a:solidFill>
            <a:srgbClr val="FBF3DE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8920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Selecție: </a:t>
            </a:r>
            <a:pPr indent="0" marL="0">
              <a:buNone/>
            </a:pPr>
            <a:r>
              <a:rPr lang="en-US" sz="14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comparabilul cu ajustarea brută minimă pe etapa de proprietate (ofertă→tranzacție NU se contorizează).   </a:t>
            </a:r>
            <a:pPr indent="0" marL="0">
              <a:buNone/>
            </a:pPr>
            <a:r>
              <a:rPr lang="en-US" sz="1450" b="1" dirty="0">
                <a:solidFill>
                  <a:srgbClr val="7C3A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Valoarea terenului = </a:t>
            </a:r>
            <a:pPr indent="0" marL="0">
              <a:buNone/>
            </a:pPr>
            <a:r>
              <a:rPr lang="en-US" sz="14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preț/mp corectat al comparabilului ales × suprafața terenului.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METODOLOGIA · CASĂ, COST, VENIT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Comparație pe preț total · cost · venit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45920"/>
            <a:ext cx="5212080" cy="420624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Casă — grilă pe preț total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Aceleași două etape (tranzacție secvențial + proprietate aditiv), dar pe prețul TOTAL.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Diferența de mărime se tratează ca ajustare valorică de arie utilă (preț unitar × diferență mp).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Fiecare comparabil este astfel „adus” la subiect.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Valoarea prin comparație = prețul total corectat al comparabilului ales.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120640" cy="420624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(CIN) și venit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de înlocuire net, segregat pe elemente (catalog IROVAL).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 = CIB × (1 − depr. fizică) × (1 − funcțională) × (1 − externă); valoare = CIN + teren.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Venit: capitalizare directă (VBP din grila de chirii) sau DCF (fluxuri actualizate + valoare reziduală).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Reconciliere (cost / comparație / venit) + alocare: construcții = proprietate − teren.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 SEV 103 „Abordări” și SEV 105 „Modele de evaluare”.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D9C0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C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Reproduce exact grilele reale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Valorile de teren din patru dosare reale, reproduse la cent (EUR):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2468880" cy="1828800"/>
          </a:xfrm>
          <a:prstGeom prst="rect">
            <a:avLst/>
          </a:prstGeom>
          <a:solidFill>
            <a:srgbClr val="21314E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44.000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Mâneciu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0" y="2194560"/>
            <a:ext cx="2468880" cy="1828800"/>
          </a:xfrm>
          <a:prstGeom prst="rect">
            <a:avLst/>
          </a:prstGeom>
          <a:solidFill>
            <a:srgbClr val="21314E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78.000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7472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Brașov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2194560"/>
            <a:ext cx="2468880" cy="1828800"/>
          </a:xfrm>
          <a:prstGeom prst="rect">
            <a:avLst/>
          </a:prstGeom>
          <a:solidFill>
            <a:srgbClr val="21314E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34.000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Bușteni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869680" y="2194560"/>
            <a:ext cx="2468880" cy="1828800"/>
          </a:xfrm>
          <a:prstGeom prst="rect">
            <a:avLst/>
          </a:prstGeom>
          <a:solidFill>
            <a:srgbClr val="21314E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67.000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86968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968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Breaza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Toate comparabilele de teren  ·  prețurile totale ale comparabilelor de casă  ·  costul (CIN)  </a:t>
            </a:r>
            <a:pPr indent="0" marL="0">
              <a:buNone/>
            </a:pPr>
            <a:r>
              <a:rPr lang="en-US" sz="1500" b="1" dirty="0">
                <a:solidFill>
                  <a:srgbClr val="D9C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reproduse exact.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Acoperit de 375 de teste automate (verzi). Aceeași logică de calcul ca dosarele reale.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FLUXUL DE LUCRU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Wizardul în cinci pași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828800"/>
            <a:ext cx="685800" cy="685800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94560" y="2176272"/>
            <a:ext cx="658368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34640"/>
            <a:ext cx="1965960" cy="22860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Adresă &amp; lucrare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37033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Județ/localitate, client, beneficiar, evaluator, 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1828800"/>
            <a:ext cx="685800" cy="685800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434840" y="2176272"/>
            <a:ext cx="658368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834640"/>
            <a:ext cx="1965960" cy="22860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Proprietatea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36392" y="37033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 proprietate, teren, arii, an, elemente de cost, atribute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1828800"/>
            <a:ext cx="685800" cy="685800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675120" y="2176272"/>
            <a:ext cx="658368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2834640"/>
            <a:ext cx="1965960" cy="22860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4924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Comparabile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76672" y="37033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Căutare automată, import din link sau introducere manuală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1828800"/>
            <a:ext cx="685800" cy="685800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8915400" y="2176272"/>
            <a:ext cx="658368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2834640"/>
            <a:ext cx="1965960" cy="22860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Metodă &amp; calcul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16952" y="37033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Abordare, monedă, curs BNR, fotografii, calcul + alerte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378440" y="1828800"/>
            <a:ext cx="685800" cy="685800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31" name="Text 29"/>
          <p:cNvSpPr/>
          <p:nvPr/>
        </p:nvSpPr>
        <p:spPr>
          <a:xfrm>
            <a:off x="103784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9738360" y="2834640"/>
            <a:ext cx="1965960" cy="22860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2980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Raport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57232" y="37033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Generează și descarcă documentul Word, editabil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Stepper clickabil + panou „Date dosar” cu recapitulare live · interfață în stil registru cadastral.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EXTERNE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Descoperirea automată de comparabile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91640"/>
            <a:ext cx="6766560" cy="9144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993392"/>
            <a:ext cx="310896" cy="31089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2011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8013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Caută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0" y="18013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Anunțuri pe portaluri imobiliare, în zona aleasă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752344"/>
            <a:ext cx="6766560" cy="9144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3054096"/>
            <a:ext cx="310896" cy="31089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" y="307238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8620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Citește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00400" y="286207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Extrage atributele din descriere (an, stare, finisaj, încălzire, suprafețe)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813048"/>
            <a:ext cx="6766560" cy="9144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4114800"/>
            <a:ext cx="310896" cy="31089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416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92277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Punctează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200400" y="39227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Similaritate după 6 criterii ponderate față de subiect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873752"/>
            <a:ext cx="6766560" cy="9144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5175504"/>
            <a:ext cx="310896" cy="31089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3" name="Text 21"/>
          <p:cNvSpPr/>
          <p:nvPr/>
        </p:nvSpPr>
        <p:spPr>
          <a:xfrm>
            <a:off x="1042416" y="519379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983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Explică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200400" y="49834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Pentru fiecare criteriu: referință, găsit, diferență, pondere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18120" y="1691640"/>
            <a:ext cx="3566160" cy="4087368"/>
          </a:xfrm>
          <a:prstGeom prst="rect">
            <a:avLst/>
          </a:prstGeom>
          <a:solidFill>
            <a:srgbClr val="16263D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 prin extensie de browser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0" y="260604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Evaluatorul deschide MANUAL un anunț pe storia.ro / imobiliare.ro și apasă un buton — extensia trimite pagina în aplicație. Fără scraping automat, fără anti-bot.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Anunțurile intră într-o coadă persistentă; din ele populează direct grila. Prețurile sunt din OFERTE — ajustarea ofertă→tranzacție o pune evaluatorul.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REZULTATUL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Raportul Word generat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Copertă, scrisoare de transmitere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Declarație de conformitate și certificare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Termeni de referință (SEV 101)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capitole de analiză (cu grilele de calcul, SEV 106)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Alocarea valorii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Riscul asociat garanției (GEV 520)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Anexe: surse comparabile + fotografii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Casetă de semnătură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0" y="1691640"/>
            <a:ext cx="4389120" cy="301752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pic>
        <p:nvPicPr>
          <p:cNvPr id="8" name="Image 0" descr="C:\Users\adyse\AppData\Local\Temp\demo\f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69480" y="1920240"/>
            <a:ext cx="3931920" cy="1234440"/>
          </a:xfrm>
          <a:prstGeom prst="rect">
            <a:avLst/>
          </a:prstGeom>
        </p:spPr>
      </p:pic>
      <p:pic>
        <p:nvPicPr>
          <p:cNvPr id="9" name="Image 1" descr="C:\Users\adyse\AppData\Local\Temp\demo\cur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69480" y="3246120"/>
            <a:ext cx="3931920" cy="1234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4754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Anexa foto — pozele intră direct în raport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040880" y="5166360"/>
            <a:ext cx="4389120" cy="777240"/>
          </a:xfrm>
          <a:prstGeom prst="rect">
            <a:avLst/>
          </a:prstGeom>
          <a:solidFill>
            <a:srgbClr val="FBF3DE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223760" y="523036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Textul de analiză e redactat cu AI pe baza cifrelor — evaluatorul revizuiește.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CONFIDENȚIALITATE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Datele personale nu ajung la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2468880" cy="21945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11680"/>
            <a:ext cx="2468880" cy="109728"/>
          </a:xfrm>
          <a:prstGeom prst="rect">
            <a:avLst/>
          </a:prstGeom>
          <a:solidFill>
            <a:srgbClr val="16263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reale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Nume, adresă, cadastral, CF, evaluator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4408" y="3108960"/>
            <a:ext cx="237744" cy="0"/>
          </a:xfrm>
          <a:prstGeom prst="line">
            <a:avLst/>
          </a:prstGeom>
          <a:noFill/>
          <a:ln w="25400">
            <a:solidFill>
              <a:srgbClr val="5A62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0440" y="2011680"/>
            <a:ext cx="2468880" cy="21945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011680"/>
            <a:ext cx="2468880" cy="109728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Anonimizare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28803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Înlocuite cu marcaje: [CLIENT], [ADRESA]...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07608" y="3108960"/>
            <a:ext cx="237744" cy="0"/>
          </a:xfrm>
          <a:prstGeom prst="line">
            <a:avLst/>
          </a:prstGeom>
          <a:noFill/>
          <a:ln w="25400">
            <a:solidFill>
              <a:srgbClr val="5A62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2011680"/>
            <a:ext cx="2468880" cy="21945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2011680"/>
            <a:ext cx="2468880" cy="10972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8803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Primește DOAR text anonimizat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50808" y="3108960"/>
            <a:ext cx="237744" cy="0"/>
          </a:xfrm>
          <a:prstGeom prst="line">
            <a:avLst/>
          </a:prstGeom>
          <a:noFill/>
          <a:ln w="25400">
            <a:solidFill>
              <a:srgbClr val="5A62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06840" y="2011680"/>
            <a:ext cx="2468880" cy="21945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06840" y="2011680"/>
            <a:ext cx="2468880" cy="10972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Demascare locală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720" y="28803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Numele reale revin pe calculator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Restul calculelor și generarea documentului se fac integral pe calculatorul evaluatorului.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ONESTITATE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mai e de făcut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37360"/>
            <a:ext cx="10607040" cy="694944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37360"/>
            <a:ext cx="109728" cy="694944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7373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Surse de date oficiale: catalog IROVAL (costuri unitare), BIG, ANCPI — necesită acces/membru ANEVAR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578608"/>
            <a:ext cx="10607040" cy="694944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78608"/>
            <a:ext cx="109728" cy="694944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78608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AML live (sancțiuni UE/ONU, PEP) — momentan injectabile, de reîmprospătat din surse oficiale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419856"/>
            <a:ext cx="10607040" cy="694944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419856"/>
            <a:ext cx="109728" cy="694944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419856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Validarea juridică finală a textelor AML generate (de către un jurist)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261104"/>
            <a:ext cx="10607040" cy="694944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61104"/>
            <a:ext cx="109728" cy="694944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261104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Semnătură digitală a .exe (elimină avertismentul SmartScreen)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5102352"/>
            <a:ext cx="10607040" cy="694944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102352"/>
            <a:ext cx="109728" cy="694944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102352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 multă testare cu cititor de ecran (NVDA) și pe cazuri reale variate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201168"/>
          </a:xfrm>
          <a:prstGeom prst="rect">
            <a:avLst/>
          </a:prstGeom>
          <a:solidFill>
            <a:srgbClr val="27408B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201168"/>
          </a:xfrm>
          <a:prstGeom prst="rect">
            <a:avLst/>
          </a:prstGeom>
          <a:solidFill>
            <a:srgbClr val="D7A92B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201168"/>
          </a:xfrm>
          <a:prstGeom prst="rect">
            <a:avLst/>
          </a:prstGeom>
          <a:solidFill>
            <a:srgbClr val="A5301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146304" cy="457200"/>
          </a:xfrm>
          <a:prstGeom prst="rect">
            <a:avLst/>
          </a:prstGeom>
          <a:solidFill>
            <a:srgbClr val="D9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C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FEEDBACK CAUT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Întrebări pentru tine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10241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 Metodologia terenului (două etape, selecție pe ajustare brută minimă, fără ofertă) — corectă?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 Metodologia casei (preț total, arie utilă ca ajustare valorică) și regula de selecție — corecte?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 Abordarea prin venit (capitalizare directă + DCF) și grila de chirii — în regulă?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 Reconcilierea și alocarea (construcții = proprietate − teren) — în regulă pentru garantare?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 Raportul (declarații, termeni, GEV 520, anexe) — complet și acceptabil pentru bănci?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 Orice ar face raportul respins sau ar trebui adăugat.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Orice observație, chiar și „așa nu se face”, e exact ce caut. Mulțumesc pentru timp.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pentru evaluator</dc:title>
  <dc:subject>PptxGenJS Presentation</dc:subject>
  <dc:creator>Aplicatie evaluare ANEVAR</dc:creator>
  <cp:lastModifiedBy>Aplicatie evaluare ANEVAR</cp:lastModifiedBy>
  <cp:revision>1</cp:revision>
  <dcterms:created xsi:type="dcterms:W3CDTF">2026-06-06T03:21:41Z</dcterms:created>
  <dcterms:modified xsi:type="dcterms:W3CDTF">2026-06-06T03:21:41Z</dcterms:modified>
</cp:coreProperties>
</file>